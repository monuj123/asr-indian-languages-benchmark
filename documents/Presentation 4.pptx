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1295C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21295C"/>
                </a:solidFill>
                <a:latin typeface="Cambria"/>
              </a:rPr>
              <a:t>WER (%) by Language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IndicConformer (RNNT)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1F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Hindi</c:v>
                  </c:pt>
                  <c:pt idx="1">
                    <c:v>Bengali</c:v>
                  </c:pt>
                  <c:pt idx="2">
                    <c:v>Marathi</c:v>
                  </c:pt>
                  <c:pt idx="3">
                    <c:v>Telugu</c:v>
                  </c:pt>
                  <c:pt idx="4">
                    <c:v>Tamil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9.44</c:v>
                </c:pt>
                <c:pt idx="1">
                  <c:v>13.2</c:v>
                </c:pt>
                <c:pt idx="2">
                  <c:v>17.14</c:v>
                </c:pt>
                <c:pt idx="3">
                  <c:v>21.37</c:v>
                </c:pt>
                <c:pt idx="4">
                  <c:v>23.37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Gnani Prisma v2.5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1F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Hindi</c:v>
                  </c:pt>
                  <c:pt idx="1">
                    <c:v>Bengali</c:v>
                  </c:pt>
                  <c:pt idx="2">
                    <c:v>Marathi</c:v>
                  </c:pt>
                  <c:pt idx="3">
                    <c:v>Telugu</c:v>
                  </c:pt>
                  <c:pt idx="4">
                    <c:v>Tamil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8.78</c:v>
                </c:pt>
                <c:pt idx="1">
                  <c:v>13.94</c:v>
                </c:pt>
                <c:pt idx="2">
                  <c:v>16.89</c:v>
                </c:pt>
                <c:pt idx="3">
                  <c:v>25.53</c:v>
                </c:pt>
                <c:pt idx="4">
                  <c:v>24.96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Sarvam Saaras v3</c:v>
                </c:pt>
              </c:strCache>
            </c:strRef>
          </c:tx>
          <c:spPr>
            <a:solidFill>
              <a:srgbClr val="9CC5D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1F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Hindi</c:v>
                  </c:pt>
                  <c:pt idx="1">
                    <c:v>Bengali</c:v>
                  </c:pt>
                  <c:pt idx="2">
                    <c:v>Marathi</c:v>
                  </c:pt>
                  <c:pt idx="3">
                    <c:v>Telugu</c:v>
                  </c:pt>
                  <c:pt idx="4">
                    <c:v>Tamil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14.78</c:v>
                </c:pt>
                <c:pt idx="1">
                  <c:v>21.21</c:v>
                </c:pt>
                <c:pt idx="2">
                  <c:v>20.46</c:v>
                </c:pt>
                <c:pt idx="3">
                  <c:v>24.8</c:v>
                </c:pt>
                <c:pt idx="4">
                  <c:v>28.65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B1F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9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472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472"/>
                    </a:solidFill>
                    <a:latin typeface="Arial"/>
                  </a:rPr>
                  <a:t>WER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1F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21295C"/>
                </a:solidFill>
                <a:latin typeface="Cambria"/>
              </a:rPr>
              <a:t>WER (%): Original vs LLM-Adjudicated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Original WER</c:v>
                </c:pt>
              </c:strCache>
            </c:strRef>
          </c:tx>
          <c:spPr>
            <a:solidFill>
              <a:srgbClr val="C0563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1F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Hindi</c:v>
                  </c:pt>
                  <c:pt idx="1">
                    <c:v>Bengali</c:v>
                  </c:pt>
                  <c:pt idx="2">
                    <c:v>Marathi</c:v>
                  </c:pt>
                  <c:pt idx="3">
                    <c:v>Tamil</c:v>
                  </c:pt>
                  <c:pt idx="4">
                    <c:v>Telugu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11.22</c:v>
                </c:pt>
                <c:pt idx="1">
                  <c:v>17.75</c:v>
                </c:pt>
                <c:pt idx="2">
                  <c:v>12.9</c:v>
                </c:pt>
                <c:pt idx="3">
                  <c:v>21.34</c:v>
                </c:pt>
                <c:pt idx="4">
                  <c:v>20.89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LLM WER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1F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Hindi</c:v>
                  </c:pt>
                  <c:pt idx="1">
                    <c:v>Bengali</c:v>
                  </c:pt>
                  <c:pt idx="2">
                    <c:v>Marathi</c:v>
                  </c:pt>
                  <c:pt idx="3">
                    <c:v>Tamil</c:v>
                  </c:pt>
                  <c:pt idx="4">
                    <c:v>Telugu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6.84</c:v>
                </c:pt>
                <c:pt idx="1">
                  <c:v>8.21</c:v>
                </c:pt>
                <c:pt idx="2">
                  <c:v>4.1</c:v>
                </c:pt>
                <c:pt idx="3">
                  <c:v>7.34</c:v>
                </c:pt>
                <c:pt idx="4">
                  <c:v>9.32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B1F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4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1B1F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914400"/>
            <a:ext cx="164592" cy="164592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235440" y="1371600"/>
            <a:ext cx="274320" cy="274320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731520"/>
            <a:ext cx="128016" cy="128016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607040" y="1737360"/>
            <a:ext cx="201168" cy="201168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155680" y="1097280"/>
            <a:ext cx="109728" cy="109728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412480" y="2194560"/>
            <a:ext cx="91440" cy="91440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0" y="2743200"/>
            <a:ext cx="146304" cy="146304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0" y="2377440"/>
            <a:ext cx="182880" cy="182880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595360" y="4663440"/>
            <a:ext cx="164592" cy="457200"/>
          </a:xfrm>
          <a:prstGeom prst="roundRect">
            <a:avLst>
              <a:gd name="adj" fmla="val 16667"/>
            </a:avLst>
          </a:prstGeom>
          <a:solidFill>
            <a:srgbClr val="5FD3C4"/>
          </a:solidFill>
          <a:ln/>
        </p:spPr>
      </p:sp>
      <p:sp>
        <p:nvSpPr>
          <p:cNvPr id="11" name="Shape 9"/>
          <p:cNvSpPr/>
          <p:nvPr/>
        </p:nvSpPr>
        <p:spPr>
          <a:xfrm>
            <a:off x="8869680" y="4114800"/>
            <a:ext cx="164592" cy="1005840"/>
          </a:xfrm>
          <a:prstGeom prst="roundRect">
            <a:avLst>
              <a:gd name="adj" fmla="val 16667"/>
            </a:avLst>
          </a:prstGeom>
          <a:solidFill>
            <a:srgbClr val="1C7293">
              <a:alpha val="8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0" y="4480560"/>
            <a:ext cx="164592" cy="640080"/>
          </a:xfrm>
          <a:prstGeom prst="roundRect">
            <a:avLst>
              <a:gd name="adj" fmla="val 16667"/>
            </a:avLst>
          </a:prstGeom>
          <a:solidFill>
            <a:srgbClr val="5FD3C4"/>
          </a:solidFill>
          <a:ln/>
        </p:spPr>
      </p:sp>
      <p:sp>
        <p:nvSpPr>
          <p:cNvPr id="13" name="Shape 11"/>
          <p:cNvSpPr/>
          <p:nvPr/>
        </p:nvSpPr>
        <p:spPr>
          <a:xfrm>
            <a:off x="9418320" y="3657600"/>
            <a:ext cx="164592" cy="1463040"/>
          </a:xfrm>
          <a:prstGeom prst="roundRect">
            <a:avLst>
              <a:gd name="adj" fmla="val 16667"/>
            </a:avLst>
          </a:prstGeom>
          <a:solidFill>
            <a:srgbClr val="1C7293">
              <a:alpha val="8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692640" y="3108960"/>
            <a:ext cx="164592" cy="2011680"/>
          </a:xfrm>
          <a:prstGeom prst="roundRect">
            <a:avLst>
              <a:gd name="adj" fmla="val 16667"/>
            </a:avLst>
          </a:prstGeom>
          <a:solidFill>
            <a:srgbClr val="5FD3C4"/>
          </a:solidFill>
          <a:ln/>
        </p:spPr>
      </p:sp>
      <p:sp>
        <p:nvSpPr>
          <p:cNvPr id="15" name="Shape 13"/>
          <p:cNvSpPr/>
          <p:nvPr/>
        </p:nvSpPr>
        <p:spPr>
          <a:xfrm>
            <a:off x="9966960" y="3931920"/>
            <a:ext cx="164592" cy="1188720"/>
          </a:xfrm>
          <a:prstGeom prst="roundRect">
            <a:avLst>
              <a:gd name="adj" fmla="val 16667"/>
            </a:avLst>
          </a:prstGeom>
          <a:solidFill>
            <a:srgbClr val="1C7293">
              <a:alpha val="8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241280" y="4572000"/>
            <a:ext cx="164592" cy="548640"/>
          </a:xfrm>
          <a:prstGeom prst="roundRect">
            <a:avLst>
              <a:gd name="adj" fmla="val 16667"/>
            </a:avLst>
          </a:prstGeom>
          <a:solidFill>
            <a:srgbClr val="5FD3C4"/>
          </a:solidFill>
          <a:ln/>
        </p:spPr>
      </p:sp>
      <p:sp>
        <p:nvSpPr>
          <p:cNvPr id="17" name="Shape 15"/>
          <p:cNvSpPr/>
          <p:nvPr/>
        </p:nvSpPr>
        <p:spPr>
          <a:xfrm>
            <a:off x="10515600" y="3383280"/>
            <a:ext cx="164592" cy="1737360"/>
          </a:xfrm>
          <a:prstGeom prst="roundRect">
            <a:avLst>
              <a:gd name="adj" fmla="val 16667"/>
            </a:avLst>
          </a:prstGeom>
          <a:solidFill>
            <a:srgbClr val="1C7293">
              <a:alpha val="8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789920" y="4114800"/>
            <a:ext cx="164592" cy="1005840"/>
          </a:xfrm>
          <a:prstGeom prst="roundRect">
            <a:avLst>
              <a:gd name="adj" fmla="val 16667"/>
            </a:avLst>
          </a:prstGeom>
          <a:solidFill>
            <a:srgbClr val="5FD3C4"/>
          </a:solidFill>
          <a:ln/>
        </p:spPr>
      </p:sp>
      <p:sp>
        <p:nvSpPr>
          <p:cNvPr id="19" name="Shape 17"/>
          <p:cNvSpPr/>
          <p:nvPr/>
        </p:nvSpPr>
        <p:spPr>
          <a:xfrm>
            <a:off x="11064240" y="4389120"/>
            <a:ext cx="164592" cy="731520"/>
          </a:xfrm>
          <a:prstGeom prst="roundRect">
            <a:avLst>
              <a:gd name="adj" fmla="val 16667"/>
            </a:avLst>
          </a:prstGeom>
          <a:solidFill>
            <a:srgbClr val="1C7293">
              <a:alpha val="8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338560" y="3749040"/>
            <a:ext cx="164592" cy="1371600"/>
          </a:xfrm>
          <a:prstGeom prst="roundRect">
            <a:avLst>
              <a:gd name="adj" fmla="val 16667"/>
            </a:avLst>
          </a:prstGeom>
          <a:solidFill>
            <a:srgbClr val="5FD3C4"/>
          </a:solidFill>
          <a:ln/>
        </p:spPr>
      </p:sp>
      <p:sp>
        <p:nvSpPr>
          <p:cNvPr id="21" name="Shape 19"/>
          <p:cNvSpPr/>
          <p:nvPr/>
        </p:nvSpPr>
        <p:spPr>
          <a:xfrm>
            <a:off x="11612880" y="4297680"/>
            <a:ext cx="164592" cy="822960"/>
          </a:xfrm>
          <a:prstGeom prst="roundRect">
            <a:avLst>
              <a:gd name="adj" fmla="val 16667"/>
            </a:avLst>
          </a:prstGeom>
          <a:solidFill>
            <a:srgbClr val="1C7293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19659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BENCHMARK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237744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 Spoken Indian Languages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640080" y="352044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state-of-the-art Automatic Speech Recognition systems across Hindi, Bengali, Marathi, Telugu, and Tamil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008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KaliberAI  ·  ASR Research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384048"/>
            <a:ext cx="6720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6492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provides a reproducible, end-to-end benchmark for evaluating state-of-the-art Automatic Speech Recognition (ASR) models on India's five most spoken languages.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6492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language notebook follows a consistent pipeline — dataset loading, model inference, and metric computation (WER &amp; CER) — enabling fair cross-model and cross-language comparisons.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F4F7F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279392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502920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416052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F4F7F9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4279392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834640" y="502920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models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evaluated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20640" y="416052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F4F7F9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4279392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5120640" y="502920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98080" y="1234440"/>
            <a:ext cx="4114800" cy="4480560"/>
          </a:xfrm>
          <a:prstGeom prst="roundRect">
            <a:avLst>
              <a:gd name="adj" fmla="val 2222"/>
            </a:avLst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781812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Languages Covered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818120" y="2057400"/>
            <a:ext cx="109728" cy="109728"/>
          </a:xfrm>
          <a:prstGeom prst="ellipse">
            <a:avLst/>
          </a:prstGeom>
          <a:solidFill>
            <a:srgbClr val="5FD3C4"/>
          </a:solidFill>
          <a:ln/>
        </p:spPr>
      </p:sp>
      <p:sp>
        <p:nvSpPr>
          <p:cNvPr id="18" name="Text 16"/>
          <p:cNvSpPr/>
          <p:nvPr/>
        </p:nvSpPr>
        <p:spPr>
          <a:xfrm>
            <a:off x="8092440" y="189280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784080" y="189280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हिंदी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818120" y="2651760"/>
            <a:ext cx="109728" cy="109728"/>
          </a:xfrm>
          <a:prstGeom prst="ellipse">
            <a:avLst/>
          </a:prstGeom>
          <a:solidFill>
            <a:srgbClr val="5FD3C4"/>
          </a:solidFill>
          <a:ln/>
        </p:spPr>
      </p:sp>
      <p:sp>
        <p:nvSpPr>
          <p:cNvPr id="21" name="Text 19"/>
          <p:cNvSpPr/>
          <p:nvPr/>
        </p:nvSpPr>
        <p:spPr>
          <a:xfrm>
            <a:off x="8092440" y="24871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784080" y="248716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বাংলা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818120" y="3246120"/>
            <a:ext cx="109728" cy="109728"/>
          </a:xfrm>
          <a:prstGeom prst="ellipse">
            <a:avLst/>
          </a:prstGeom>
          <a:solidFill>
            <a:srgbClr val="5FD3C4"/>
          </a:solidFill>
          <a:ln/>
        </p:spPr>
      </p:sp>
      <p:sp>
        <p:nvSpPr>
          <p:cNvPr id="24" name="Text 22"/>
          <p:cNvSpPr/>
          <p:nvPr/>
        </p:nvSpPr>
        <p:spPr>
          <a:xfrm>
            <a:off x="8092440" y="308152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Marathi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784080" y="308152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मराठी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818120" y="3840480"/>
            <a:ext cx="109728" cy="109728"/>
          </a:xfrm>
          <a:prstGeom prst="ellipse">
            <a:avLst/>
          </a:prstGeom>
          <a:solidFill>
            <a:srgbClr val="5FD3C4"/>
          </a:solidFill>
          <a:ln/>
        </p:spPr>
      </p:sp>
      <p:sp>
        <p:nvSpPr>
          <p:cNvPr id="27" name="Text 25"/>
          <p:cNvSpPr/>
          <p:nvPr/>
        </p:nvSpPr>
        <p:spPr>
          <a:xfrm>
            <a:off x="8092440" y="367588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Telugu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784080" y="367588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తెలుగు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818120" y="4434840"/>
            <a:ext cx="109728" cy="109728"/>
          </a:xfrm>
          <a:prstGeom prst="ellipse">
            <a:avLst/>
          </a:prstGeom>
          <a:solidFill>
            <a:srgbClr val="5FD3C4"/>
          </a:solidFill>
          <a:ln/>
        </p:spPr>
      </p:sp>
      <p:sp>
        <p:nvSpPr>
          <p:cNvPr id="30" name="Text 28"/>
          <p:cNvSpPr/>
          <p:nvPr/>
        </p:nvSpPr>
        <p:spPr>
          <a:xfrm>
            <a:off x="8092440" y="427024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784080" y="427024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தமிழ்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Benchmark — Indian Languages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292608"/>
            <a:ext cx="6720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Evaluated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and commercial ASR systems spanning CTC, RNN-T, and encoder-decoder architectures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Open-Source Models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3093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651760"/>
                <a:gridCol w="17373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IndicWhisper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Encoder-decoder transformer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(Whisper fine-tune)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AI4Bharat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IndicWav2Vec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wav2vec 2.0 + CTC decoding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AI4Bharat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IndicConformer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Conformer, CTC / RNN-T heads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AI4Bharat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Vaani FastConformer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FastConformer (NeMo),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streaming-capable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Vaani Project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178040" y="13258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 APIs</a:t>
            </a:r>
            <a:endParaRPr lang="en-US" sz="14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1691640"/>
          <a:ext cx="44348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7830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Sarvam Saaras v3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Sarvam 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Gnani Prisma v2.5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Gnani.ai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178040" y="3246120"/>
            <a:ext cx="4434840" cy="2468880"/>
          </a:xfrm>
          <a:prstGeom prst="roundRect">
            <a:avLst>
              <a:gd name="adj" fmla="val 2963"/>
            </a:avLst>
          </a:prstGeom>
          <a:solidFill>
            <a:srgbClr val="F4F7F9"/>
          </a:solidFill>
          <a:ln/>
        </p:spPr>
      </p:sp>
      <p:sp>
        <p:nvSpPr>
          <p:cNvPr id="10" name="Text 6"/>
          <p:cNvSpPr/>
          <p:nvPr/>
        </p:nvSpPr>
        <p:spPr>
          <a:xfrm>
            <a:off x="7406640" y="34015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406640" y="3703320"/>
            <a:ext cx="39776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IndicConformer-600M-multilingual — RNN-T variant generally outperforms CTC in this benchmark.
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IndicWhisper is Whisper fine-tuned on Indic speech (Shrutilipi, MUCS, etc.).
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Vaani FastConformer is NeMo-based, optimized for lower latency / streaming.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Benchmark — Indian Languages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43000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292608"/>
            <a:ext cx="6720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Datasets Used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834640"/>
                <a:gridCol w="2468880"/>
                <a:gridCol w="42976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/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1554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Kathbath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Read-speech corpus, crowd-sourced via Karya platform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Indian languages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Released by AI4Bharat; ~1,700 hrs. Has a Noisy 8kHz variant used by some commercial APIs (e.g. Gnani) — not directly comparable to clean 16kHz evaluation.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IndicVoices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Natural, spontaneous conversational speech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22+ Indian languages, incl. low-resource NE India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Released by AI4Bharat; harder &amp; more realistic than read-speech corpora like Kathbath — used for stress-testing generalization.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8920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DF0EC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5138928"/>
            <a:ext cx="411480" cy="411480"/>
          </a:xfrm>
          <a:prstGeom prst="ellipse">
            <a:avLst/>
          </a:prstGeom>
          <a:solidFill>
            <a:srgbClr val="C0563A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51389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417320" y="4956048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2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Methodological caveat: the noisy 8kHz Kathbath variant (used by some commercial APIs) is not directly comparable to the clean 16kHz variant used elsewhere — cross-model results should be interpreted with this in mind.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Benchmark — Indian Languages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292608"/>
            <a:ext cx="8549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LLM-WER &amp; LLM-CER Methodology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rigid string-matching with a semantic and phonetic judgement made by an LLM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7240" y="1600200"/>
            <a:ext cx="3200400" cy="2331720"/>
          </a:xfrm>
          <a:prstGeom prst="roundRect">
            <a:avLst>
              <a:gd name="adj" fmla="val 4706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1F2A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57400" y="1280160"/>
            <a:ext cx="640080" cy="640080"/>
          </a:xfrm>
          <a:prstGeom prst="ellipse">
            <a:avLst/>
          </a:prstGeom>
          <a:solidFill>
            <a:srgbClr val="1C729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5740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0584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Alignment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60604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standard WER/CER alignment to find mismatched segments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050792" y="2601468"/>
            <a:ext cx="548640" cy="329184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1600200"/>
            <a:ext cx="3200400" cy="2331720"/>
          </a:xfrm>
          <a:prstGeom prst="roundRect">
            <a:avLst>
              <a:gd name="adj" fmla="val 4706"/>
            </a:avLst>
          </a:prstGeom>
          <a:solidFill>
            <a:srgbClr val="F4F7F9"/>
          </a:solidFill>
          <a:ln/>
          <a:effectLst>
            <a:outerShdw sx="100000" sy="100000" kx="0" ky="0" algn="bl" rotWithShape="0" blurRad="76200" dist="25400" dir="5400000">
              <a:srgbClr val="1B1F2A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0" y="1280160"/>
            <a:ext cx="640080" cy="640080"/>
          </a:xfrm>
          <a:prstGeom prst="ellipse">
            <a:avLst/>
          </a:prstGeom>
          <a:solidFill>
            <a:srgbClr val="1C729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89204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Judgement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 LLM: are these segments semantically equivalent or phonetically similar?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36992" y="2601468"/>
            <a:ext cx="548640" cy="329184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8549640" y="1600200"/>
            <a:ext cx="3200400" cy="2331720"/>
          </a:xfrm>
          <a:prstGeom prst="roundRect">
            <a:avLst>
              <a:gd name="adj" fmla="val 4706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1B1F2A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829800" y="1280160"/>
            <a:ext cx="640080" cy="640080"/>
          </a:xfrm>
          <a:prstGeom prst="ellipse">
            <a:avLst/>
          </a:prstGeom>
          <a:solidFill>
            <a:srgbClr val="5FD3C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2980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77824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Confirmed Errors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778240" y="260604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CE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count segments the LLM confirms as genuinely wrong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77240" y="4343400"/>
            <a:ext cx="10607040" cy="1691640"/>
          </a:xfrm>
          <a:prstGeom prst="roundRect">
            <a:avLst>
              <a:gd name="adj" fmla="val 5405"/>
            </a:avLst>
          </a:prstGeom>
          <a:solidFill>
            <a:srgbClr val="21295C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4526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48463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4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and CER measure the distance between two strings. LLM-based metrics measure the distance between two meanings. For Indian languages, those two distances can be very different — combining both perspectives gives the most accurate picture of ASR quality.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Benchmark — Indian Languages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292608"/>
            <a:ext cx="9464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WER Comparison Across Languages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Error Rate (%) — lower is better. Comparing the strongest open-source and commercial models.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280160"/>
          <a:ext cx="110642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Benchmark — Indian Languages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292608"/>
            <a:ext cx="9464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Best-Performing Model per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WER / CER achieved on the Kathbath test set (all figures in %)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371600"/>
          <a:ext cx="106070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  <a:gridCol w="1554480"/>
                <a:gridCol w="1920240"/>
                <a:gridCol w="19202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 (%)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 (%)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Hindi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Gnani Prisma v2.5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5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Bengali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Gnani Prisma v2.5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5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Marathi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Gnani Prisma v2.5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5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Telugu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IndicConformer (RNNT)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IndicConformer (RNNT)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577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</a:t>
            </a:r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00" b="1" dirty="0">
                <a:solidFill>
                  <a:srgbClr val="C05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/ Commercial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59893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Gnani Prisma v2.5 was evaluated on the Noisy 8kHz Kathbath variant, unlike other models (clean 16kHz) — see caveat on Datasets slide.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Benchmark — Indian Languages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292608"/>
            <a:ext cx="9464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LLM-WER/CER: Semantic Scoring Impact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Saaras v3 outputs, 50 samples per language — original vs. LLM-adjudicated error rates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280160"/>
          <a:ext cx="64922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360920" y="132588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Relative WER reduction after semantic scoring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360920" y="1783080"/>
            <a:ext cx="4251960" cy="658368"/>
          </a:xfrm>
          <a:prstGeom prst="roundRect">
            <a:avLst>
              <a:gd name="adj" fmla="val 9722"/>
            </a:avLst>
          </a:prstGeom>
          <a:solidFill>
            <a:srgbClr val="F4F7F9"/>
          </a:solidFill>
          <a:ln/>
        </p:spPr>
      </p:sp>
      <p:sp>
        <p:nvSpPr>
          <p:cNvPr id="8" name="Text 5"/>
          <p:cNvSpPr/>
          <p:nvPr/>
        </p:nvSpPr>
        <p:spPr>
          <a:xfrm>
            <a:off x="7589520" y="178308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92640" y="178308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-39%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360920" y="2560320"/>
            <a:ext cx="4251960" cy="658368"/>
          </a:xfrm>
          <a:prstGeom prst="roundRect">
            <a:avLst>
              <a:gd name="adj" fmla="val 9722"/>
            </a:avLst>
          </a:prstGeom>
          <a:solidFill>
            <a:srgbClr val="F4F7F9"/>
          </a:solidFill>
          <a:ln/>
        </p:spPr>
      </p:sp>
      <p:sp>
        <p:nvSpPr>
          <p:cNvPr id="11" name="Text 8"/>
          <p:cNvSpPr/>
          <p:nvPr/>
        </p:nvSpPr>
        <p:spPr>
          <a:xfrm>
            <a:off x="7589520" y="256032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692640" y="256032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-54%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360920" y="3337560"/>
            <a:ext cx="4251960" cy="658368"/>
          </a:xfrm>
          <a:prstGeom prst="roundRect">
            <a:avLst>
              <a:gd name="adj" fmla="val 9722"/>
            </a:avLst>
          </a:prstGeom>
          <a:solidFill>
            <a:srgbClr val="F4F7F9"/>
          </a:solidFill>
          <a:ln/>
        </p:spPr>
      </p:sp>
      <p:sp>
        <p:nvSpPr>
          <p:cNvPr id="14" name="Text 11"/>
          <p:cNvSpPr/>
          <p:nvPr/>
        </p:nvSpPr>
        <p:spPr>
          <a:xfrm>
            <a:off x="7589520" y="333756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Marathi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692640" y="333756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-68%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7360920" y="4114800"/>
            <a:ext cx="4251960" cy="658368"/>
          </a:xfrm>
          <a:prstGeom prst="roundRect">
            <a:avLst>
              <a:gd name="adj" fmla="val 9722"/>
            </a:avLst>
          </a:prstGeom>
          <a:solidFill>
            <a:srgbClr val="F4F7F9"/>
          </a:solidFill>
          <a:ln/>
        </p:spPr>
      </p:sp>
      <p:sp>
        <p:nvSpPr>
          <p:cNvPr id="17" name="Text 14"/>
          <p:cNvSpPr/>
          <p:nvPr/>
        </p:nvSpPr>
        <p:spPr>
          <a:xfrm>
            <a:off x="7589520" y="411480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692640" y="411480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-66%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7360920" y="4892040"/>
            <a:ext cx="4251960" cy="658368"/>
          </a:xfrm>
          <a:prstGeom prst="roundRect">
            <a:avLst>
              <a:gd name="adj" fmla="val 9722"/>
            </a:avLst>
          </a:prstGeom>
          <a:solidFill>
            <a:srgbClr val="F4F7F9"/>
          </a:solidFill>
          <a:ln/>
        </p:spPr>
      </p:sp>
      <p:sp>
        <p:nvSpPr>
          <p:cNvPr id="20" name="Text 17"/>
          <p:cNvSpPr/>
          <p:nvPr/>
        </p:nvSpPr>
        <p:spPr>
          <a:xfrm>
            <a:off x="7589520" y="489204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Telugu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692640" y="489204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-55%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Benchmark — Indian Languages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43000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292608"/>
            <a:ext cx="9464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Qualitative Sample: LLM Equivalence Judgements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— sample of reference/prediction pairs judged by the LLM (mixed true/false examples)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1005840"/>
                <a:gridCol w="53035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Equiv.?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Reasoning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उषा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ऊषा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Minor spelling variation — short vs. long initial vowel, same name.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जगन्नाथ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जगरनाथ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dialectal/spelling variation of the same proper noun.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...अंतिम विदाई दी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...अंतिम विदाई दी 000 जी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5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Extraneous insertion at the sentence end, absent in the reference.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आठ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 form of the number '8' — semantically equivalent.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कें द्र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के न्द्र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Anusvara vs. conjunct-letter spelling variation for 'center'.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डोकलाम... नॉर्म...चीनी राजदूत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डोकलाम... नार्म...चीन चीनी राजदूत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Repetition/disfluency artifact ('चीन'); doesn't change meaning.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Benchmark — Indian Languages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292608"/>
            <a:ext cx="9464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Qualitative Sample: LLM Equivalence Judgements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— sample of reference/prediction pairs judged by the LLM (mixed true/false examples)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1005840"/>
                <a:gridCol w="53035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Equiv.?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Reasoning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বিশ্ববরেণ্য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বিশ্ব বরেণ্য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Compound word vs. spaced form — spacing variation of the same word.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এসএম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এস এম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Formatting variation of the same spoken initials/acronym.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৯৪ তম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Bengali ordinal digit form is numerically and functionally equivalent to '94th'.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মোদি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মোদী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spelling variation of the same proper noun.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যাবে ইবির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যাইবে ইবিরো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5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 due to the additional additive suffix '-ও' on the prediction.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কাশ্মীরে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কাশ্মীর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5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carries a locative case suffix; prediction is the plain noun — changes grammatical meaning.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Benchmark — Indian Languages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499616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IndicConformer (RNN-T) leads open-source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901952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the strongest open-source model across all five languages; the RNN-T decoding head outperforms CTC.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72491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24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6700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Bengali is easiest, Tamil is hardest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3072384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Bengali WER reaches ~13.5%, while Tamil remains the most challenging language at ~23–29% WER.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89534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8953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3840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 APIs lead for Hindi/Bengali/Marathi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4242816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Gnani Prisma v2.5 gives the lowest WER for these three languages, though on a noisy 8kHz variant — a caveat for direct comparison.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50657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065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501091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D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LLM-WER/CER reveals inflated error rates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541324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scoring cuts apparent WER by 39–68% across languages, showing standard string-matching over-penalizes agglutinative Indic languages.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Benchmark — Indian Languages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653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5120640"/>
            <a:ext cx="146304" cy="146304"/>
          </a:xfrm>
          <a:prstGeom prst="ellipse">
            <a:avLst/>
          </a:prstGeom>
          <a:solidFill>
            <a:srgbClr val="1C7293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5486400"/>
            <a:ext cx="256032" cy="256032"/>
          </a:xfrm>
          <a:prstGeom prst="ellipse">
            <a:avLst/>
          </a:prstGeom>
          <a:solidFill>
            <a:srgbClr val="1C7293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920240" y="4937760"/>
            <a:ext cx="109728" cy="109728"/>
          </a:xfrm>
          <a:prstGeom prst="ellipse">
            <a:avLst/>
          </a:prstGeom>
          <a:solidFill>
            <a:srgbClr val="1C7293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377440" y="5669280"/>
            <a:ext cx="182880" cy="182880"/>
          </a:xfrm>
          <a:prstGeom prst="ellipse">
            <a:avLst/>
          </a:prstGeom>
          <a:solidFill>
            <a:srgbClr val="1C7293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5852160"/>
            <a:ext cx="91440" cy="91440"/>
          </a:xfrm>
          <a:prstGeom prst="ellipse">
            <a:avLst/>
          </a:prstGeom>
          <a:solidFill>
            <a:srgbClr val="1C7293">
              <a:alpha val="7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0" y="2468880"/>
            <a:ext cx="1216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0" y="342900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Benchmark for Indian Languages  ·  KaliberAI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0" y="393192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2026-07-29T18:08:14Z</dcterms:created>
  <dcterms:modified xsi:type="dcterms:W3CDTF">2026-07-29T18:08:14Z</dcterms:modified>
</cp:coreProperties>
</file>